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7" r:id="rId1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Economica" panose="020B060402020202020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82F0D-02DD-723F-FD35-E36A0CD05176}" v="4" dt="2026-06-17T08:39:59.322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67"/>
  </p:normalViewPr>
  <p:slideViewPr>
    <p:cSldViewPr snapToGrid="0">
      <p:cViewPr>
        <p:scale>
          <a:sx n="163" d="100"/>
          <a:sy n="163" d="100"/>
        </p:scale>
        <p:origin x="1984" y="6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0"/>
            <a:ext cx="3281100" cy="19484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sz="2400"/>
              <a:t>Backend-</a:t>
            </a:r>
            <a:r>
              <a:rPr lang="uk-UA" sz="2400"/>
              <a:t>частина </a:t>
            </a:r>
            <a:r>
              <a:rPr lang="uk-UA" sz="2400" dirty="0"/>
              <a:t>програмної системи </a:t>
            </a:r>
            <a:r>
              <a:rPr lang="uk-UA" sz="2400"/>
              <a:t>для публікації та прослуховування аудіопоезії</a:t>
            </a:r>
            <a:endParaRPr sz="240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815547" y="3352335"/>
            <a:ext cx="4565374" cy="1007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indent="0" algn="r"/>
            <a:r>
              <a:rPr lang="uk-UA" sz="1400"/>
              <a:t>Бєлік Єгор Васильович, ПЗПІ-23-6</a:t>
            </a:r>
            <a:endParaRPr sz="1400"/>
          </a:p>
          <a:p>
            <a:pPr marL="0" lvl="0" indent="0" algn="r"/>
            <a:r>
              <a:rPr lang="uk" sz="1400" dirty="0"/>
              <a:t>Керівник: </a:t>
            </a:r>
            <a:r>
              <a:rPr lang="uk-UA" sz="1400" dirty="0"/>
              <a:t>ст. </a:t>
            </a:r>
            <a:r>
              <a:rPr lang="uk-UA" sz="1400"/>
              <a:t>викл</a:t>
            </a:r>
            <a:r>
              <a:rPr lang="uk-UA" sz="1400" dirty="0"/>
              <a:t>. кафедри ПІ Костянтин Онищенко </a:t>
            </a: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15A534-3C56-8077-CF1E-446849B6690C}"/>
              </a:ext>
            </a:extLst>
          </p:cNvPr>
          <p:cNvSpPr txBox="1"/>
          <p:nvPr/>
        </p:nvSpPr>
        <p:spPr>
          <a:xfrm>
            <a:off x="2286000" y="45705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8 червня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89756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uk-UA"/>
              <a:t>Розробка серверної частини системи Eter, що забезпечує обробку запитів користувачів, збереження даних, роботу з аудіопублікаціями та взаємодію між клієнтськими застосунками.</a:t>
            </a:r>
            <a:endParaRPr lang="en-US"/>
          </a:p>
          <a:p>
            <a:pPr marL="0" lvl="0" indent="0">
              <a:spcBef>
                <a:spcPts val="1200"/>
              </a:spcBef>
              <a:buNone/>
            </a:pPr>
            <a:endParaRPr lang="uk-UA" dirty="0"/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uk-UA"/>
              <a:t>Актуальність роботи зумовлена потребою у надійному backend-рішенні для платформи аудіопоезії, де необхідно поєднати керування контентом, синхронізований текст, облік прослуховувань, сповіщення, платежі та адміністративну модерацію в єдиній серверній логіці.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10B142-D982-356F-C79C-22F586474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070963"/>
              </p:ext>
            </p:extLst>
          </p:nvPr>
        </p:nvGraphicFramePr>
        <p:xfrm>
          <a:off x="399664" y="774573"/>
          <a:ext cx="8520600" cy="29837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40200">
                  <a:extLst>
                    <a:ext uri="{9D8B030D-6E8A-4147-A177-3AD203B41FA5}">
                      <a16:colId xmlns:a16="http://schemas.microsoft.com/office/drawing/2014/main" val="1836856362"/>
                    </a:ext>
                  </a:extLst>
                </a:gridCol>
                <a:gridCol w="2840200">
                  <a:extLst>
                    <a:ext uri="{9D8B030D-6E8A-4147-A177-3AD203B41FA5}">
                      <a16:colId xmlns:a16="http://schemas.microsoft.com/office/drawing/2014/main" val="2348607202"/>
                    </a:ext>
                  </a:extLst>
                </a:gridCol>
                <a:gridCol w="2840200">
                  <a:extLst>
                    <a:ext uri="{9D8B030D-6E8A-4147-A177-3AD203B41FA5}">
                      <a16:colId xmlns:a16="http://schemas.microsoft.com/office/drawing/2014/main" val="812560102"/>
                    </a:ext>
                  </a:extLst>
                </a:gridCol>
              </a:tblGrid>
              <a:tr h="266233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Існуюче рішення</a:t>
                      </a:r>
                      <a:endParaRPr lang="uk-UA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Переваги</a:t>
                      </a:r>
                      <a:endParaRPr lang="uk-UA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Недоліки</a:t>
                      </a:r>
                      <a:endParaRPr lang="uk-UA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514958"/>
                  </a:ext>
                </a:extLst>
              </a:tr>
              <a:tr h="762880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Spotify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Розвинена інфраструктура для аудіоконтенту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,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аналітика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,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доступ до широкої аудиторії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Орієнтація на подкасти й загальний аудіоконтент; немає синхронізації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поетичного тексту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 з аудіо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010209"/>
                  </a:ext>
                </a:extLst>
              </a:tr>
              <a:tr h="666384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SoundCloud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Авторська публікація аудіо, профілі</a:t>
                      </a: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авторів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, взаємодія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 з аудиторією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Немає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спеціальної роботи з поетичним текстом, рядковою структурою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та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синхронізацією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854566"/>
                  </a:ext>
                </a:extLst>
              </a:tr>
              <a:tr h="540374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noProof="0">
                          <a:solidFill>
                            <a:schemeClr val="dk1"/>
                          </a:solidFill>
                        </a:rPr>
                        <a:t>Wattpad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Публікація авторських текстів, профілі, коментарі, спільнота читачів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Основний фокус на читанні тексту, а не на аудіовиконанні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та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прослуховуванні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491385"/>
                  </a:ext>
                </a:extLst>
              </a:tr>
              <a:tr h="540374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noProof="0">
                          <a:solidFill>
                            <a:schemeClr val="dk1"/>
                          </a:solidFill>
                        </a:rPr>
                        <a:t>Medium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Монетизація авторського контенту, розвиток персонального бренду автора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Немає інструментів для аудіопоезії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,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синхронізованого тексту й обліку прослуховувань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4696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9FF20D-9B0D-B633-1B43-11B0A6E8894E}"/>
              </a:ext>
            </a:extLst>
          </p:cNvPr>
          <p:cNvSpPr txBox="1"/>
          <p:nvPr/>
        </p:nvSpPr>
        <p:spPr>
          <a:xfrm>
            <a:off x="313628" y="3756567"/>
            <a:ext cx="8746736" cy="7526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Висновок:</a:t>
            </a:r>
            <a:r>
              <a:rPr lang="en-US"/>
              <a:t> наявні рішення покривають лише окремі частини задачі: аудіо, текст або монетизацію. Eter об’єднує ці можливості в одній системі для аудіопоезії.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00917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lnSpc>
                <a:spcPct val="114999"/>
              </a:lnSpc>
              <a:buNone/>
            </a:pPr>
            <a:r>
              <a:rPr lang="uk-UA" sz="1600"/>
              <a:t>Проблема: Відсутність серверної частини, що забезпечує єдину бізнес-логіку для публікації, прослуховування, синхронізації тексту, соціальної взаємодії, платежів і модерації аудіопоезії.</a:t>
            </a:r>
            <a:endParaRPr lang="en-US" sz="1600"/>
          </a:p>
          <a:p>
            <a:pPr marL="114300" indent="0">
              <a:lnSpc>
                <a:spcPct val="114999"/>
              </a:lnSpc>
              <a:buNone/>
            </a:pPr>
            <a:endParaRPr lang="en-US" sz="1600" dirty="0">
              <a:solidFill>
                <a:srgbClr val="0D0D0D"/>
              </a:solidFill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Очікувані результати:</a:t>
            </a:r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Реалізація REST API для Android-, web- та admin-клієнтів </a:t>
            </a:r>
            <a:endParaRPr lang="uk-UA" sz="16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Автентифікація, авторизація та керування користувачами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Створення, обробка й публікація аудіопостів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Збереження синхронізованого тексту з часовими мітками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Соціальні функції: коментарі, реакції, підписки, сповіщення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Облік прослуховувань і робота з платежами через Monobank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Модерація контенту та адміністративне керування</a:t>
            </a:r>
            <a:endParaRPr lang="uk-UA"/>
          </a:p>
          <a:p>
            <a:pPr>
              <a:lnSpc>
                <a:spcPct val="114999"/>
              </a:lnSpc>
              <a:buFont typeface="Arial" panose="020B0604020202020204" pitchFamily="34" charset="0"/>
              <a:buChar char="•"/>
            </a:pPr>
            <a:endParaRPr lang="uk-UA" sz="1600" dirty="0">
              <a:solidFill>
                <a:srgbClr val="0D0D0D"/>
              </a:solidFill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113712"/>
            <a:ext cx="5307222" cy="24651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lnSpc>
                <a:spcPct val="114999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b="1" dirty="0"/>
              <a:t>Backend:</a:t>
            </a:r>
            <a:r>
              <a:rPr lang="en-US" dirty="0"/>
              <a:t> NestJS, TypeScript</a:t>
            </a:r>
            <a:br>
              <a:rPr lang="en-US" dirty="0"/>
            </a:br>
            <a:r>
              <a:rPr lang="en-US" b="1" dirty="0"/>
              <a:t>База даних:</a:t>
            </a:r>
            <a:r>
              <a:rPr lang="en-US" dirty="0"/>
              <a:t> PostgreSQL, TypeORM</a:t>
            </a:r>
            <a:br>
              <a:rPr lang="en-US" dirty="0"/>
            </a:br>
            <a:r>
              <a:rPr lang="en-US" b="1" dirty="0"/>
              <a:t>API:</a:t>
            </a:r>
            <a:r>
              <a:rPr lang="en-US" dirty="0"/>
              <a:t> REST API, Swagger</a:t>
            </a:r>
            <a:br>
              <a:rPr lang="en-US" dirty="0"/>
            </a:br>
            <a:r>
              <a:rPr lang="en-US" b="1" dirty="0" err="1"/>
              <a:t>Реальний</a:t>
            </a:r>
            <a:r>
              <a:rPr lang="en-US" b="1" dirty="0"/>
              <a:t> </a:t>
            </a:r>
            <a:r>
              <a:rPr lang="en-US" b="1" dirty="0" err="1"/>
              <a:t>час</a:t>
            </a:r>
            <a:r>
              <a:rPr lang="en-US" b="1" dirty="0"/>
              <a:t>:</a:t>
            </a:r>
            <a:r>
              <a:rPr lang="en-US" dirty="0"/>
              <a:t> WebSocket / Socket.io</a:t>
            </a:r>
            <a:br>
              <a:rPr lang="en-US" dirty="0"/>
            </a:br>
            <a:r>
              <a:rPr lang="en-US" b="1" dirty="0"/>
              <a:t>Безпека:</a:t>
            </a:r>
            <a:r>
              <a:rPr lang="en-US" dirty="0"/>
              <a:t> JWT, refresh tokens, guards</a:t>
            </a:r>
            <a:br>
              <a:rPr lang="en-US" dirty="0"/>
            </a:br>
            <a:r>
              <a:rPr lang="en-US" b="1" dirty="0" err="1"/>
              <a:t>Інтеграції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Monobank</a:t>
            </a:r>
            <a:r>
              <a:rPr lang="en-US" dirty="0"/>
              <a:t> API, </a:t>
            </a:r>
            <a:r>
              <a:rPr lang="en-US" dirty="0" err="1"/>
              <a:t>Mailjet</a:t>
            </a:r>
            <a:r>
              <a:rPr lang="en-US" dirty="0"/>
              <a:t>, Web Push</a:t>
            </a:r>
            <a:br>
              <a:rPr lang="en-US" dirty="0"/>
            </a:br>
            <a:r>
              <a:rPr lang="en-US" b="1" dirty="0" err="1"/>
              <a:t>Розгортання</a:t>
            </a:r>
            <a:r>
              <a:rPr lang="en-US" b="1" dirty="0"/>
              <a:t>:</a:t>
            </a:r>
            <a:r>
              <a:rPr lang="en-US" dirty="0"/>
              <a:t> Docker, GitHub Actions</a:t>
            </a: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3" name="Picture 2" descr="A blue square with white letters&#10;&#10;AI-generated content may be incorrect.">
            <a:extLst>
              <a:ext uri="{FF2B5EF4-FFF2-40B4-BE49-F238E27FC236}">
                <a16:creationId xmlns:a16="http://schemas.microsoft.com/office/drawing/2014/main" id="{313BEE5E-6881-ABF3-E3B2-2929E312B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416" y="571849"/>
            <a:ext cx="1462205" cy="1428054"/>
          </a:xfrm>
          <a:prstGeom prst="rect">
            <a:avLst/>
          </a:prstGeom>
        </p:spPr>
      </p:pic>
      <p:pic>
        <p:nvPicPr>
          <p:cNvPr id="4" name="Picture 3" descr="A pink lion head with sharp teeth&#10;&#10;AI-generated content may be incorrect.">
            <a:extLst>
              <a:ext uri="{FF2B5EF4-FFF2-40B4-BE49-F238E27FC236}">
                <a16:creationId xmlns:a16="http://schemas.microsoft.com/office/drawing/2014/main" id="{D082A273-0A2F-76AC-5036-0EDDAA88C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568" y="2502054"/>
            <a:ext cx="1693591" cy="1693591"/>
          </a:xfrm>
          <a:prstGeom prst="rect">
            <a:avLst/>
          </a:prstGeom>
        </p:spPr>
      </p:pic>
      <p:pic>
        <p:nvPicPr>
          <p:cNvPr id="6" name="Picture 5" descr="A blue elephant with white outline&#10;&#10;AI-generated content may be incorrect.">
            <a:extLst>
              <a:ext uri="{FF2B5EF4-FFF2-40B4-BE49-F238E27FC236}">
                <a16:creationId xmlns:a16="http://schemas.microsoft.com/office/drawing/2014/main" id="{E0F5655D-748C-DAE5-5D88-C58F665781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4843" y="3456877"/>
            <a:ext cx="1543388" cy="14845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648757"/>
            <a:ext cx="8520600" cy="2710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lnSpc>
                <a:spcPct val="114999"/>
              </a:lnSpc>
              <a:spcBef>
                <a:spcPts val="1500"/>
              </a:spcBef>
              <a:buNone/>
            </a:pP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Backend Eter побудовано як модульну серверну систему, що надає єдиний API для Android-, web- та admin-клієнтів.</a:t>
            </a:r>
            <a:endParaRPr lang="en-US"/>
          </a:p>
          <a:p>
            <a:pPr marL="0" indent="0">
              <a:lnSpc>
                <a:spcPct val="114999"/>
              </a:lnSpc>
              <a:spcBef>
                <a:spcPts val="1500"/>
              </a:spcBef>
              <a:buNone/>
            </a:pP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Основні компоненти: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REST API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обробка запитів клієнтських застосунків </a:t>
            </a:r>
            <a:endParaRPr lang="en-US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WebSocket Gateway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сповіщення та події в реальному часі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Modules / Services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бізнес-логіка системи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PostgreSQL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зберігання користувачів, постів, підписок, платежів </a:t>
            </a:r>
            <a:endParaRPr lang="en-US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File Storage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зберігання аудіофайлів </a:t>
            </a:r>
            <a:endParaRPr lang="en-US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External Services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Monobank, Mailjet, Web Push</a:t>
            </a:r>
            <a:endParaRPr lang="en-US"/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endParaRPr lang="uk-UA" dirty="0">
              <a:solidFill>
                <a:srgbClr val="000000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3" name="Picture 2" descr="A diagram of a system&#10;&#10;AI-generated content may be incorrect.">
            <a:extLst>
              <a:ext uri="{FF2B5EF4-FFF2-40B4-BE49-F238E27FC236}">
                <a16:creationId xmlns:a16="http://schemas.microsoft.com/office/drawing/2014/main" id="{B54AEF46-0ACE-E1FE-4BC3-7E17AEE40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896" y="1065755"/>
            <a:ext cx="5843240" cy="6353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24501"/>
            <a:ext cx="8520600" cy="3606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14999"/>
              </a:lnSpc>
              <a:spcBef>
                <a:spcPts val="1500"/>
              </a:spcBef>
              <a:buNone/>
            </a:pPr>
            <a:r>
              <a:rPr lang="uk-UA" sz="1300">
                <a:solidFill>
                  <a:srgbClr val="0D0D0D"/>
                </a:solidFill>
                <a:highlight>
                  <a:srgbClr val="FFFFFF"/>
                </a:highlight>
              </a:rPr>
              <a:t>У ході розробки було реалізовано backend-частину системи Eter, яка забезпечує обробку запитів, зберігання даних, бізнес-логіку, інтеграції та взаємодію клієнтських застосунків із сервером.</a:t>
            </a:r>
            <a:endParaRPr lang="en-US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1500"/>
              </a:spcBef>
              <a:buNone/>
            </a:pP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Було використано: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NestJS, TypeScript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реалізація модульної серверної частини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PostgreSQL, TypeORM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зберігання даних і робота з БД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REST API, Swagger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взаємодія з клієнтами та документація API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WebSocket / Socket.io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сповіщення та події в реальному часі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JWT, refresh tokens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автентифікація та захист доступу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Monobank API, Mailjet, Web Push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платежі, email- і push-сповіщення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Docker, GitHub Actions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розгортання та автоматизація</a:t>
            </a:r>
            <a:endParaRPr lang="uk-UA" sz="150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1500"/>
              </a:spcBef>
              <a:buNone/>
            </a:pPr>
            <a:endParaRPr lang="uk-UA" sz="13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sz="1300"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-127477" y="925536"/>
            <a:ext cx="8611204" cy="329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0">
              <a:lnSpc>
                <a:spcPct val="114999"/>
              </a:lnSpc>
              <a:buNone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При розробці використано модульну архітектуру NestJS, REST API, WebSocket, Dependency Injection та JWT-автентифікацію.</a:t>
            </a:r>
            <a:endParaRPr lang="en-US" sz="1600"/>
          </a:p>
          <a:p>
            <a:pPr indent="0">
              <a:lnSpc>
                <a:spcPct val="114999"/>
              </a:lnSpc>
              <a:buNone/>
            </a:pPr>
            <a:endParaRPr lang="uk-UA" sz="1600" dirty="0"/>
          </a:p>
          <a:p>
            <a:pPr indent="0">
              <a:lnSpc>
                <a:spcPct val="114999"/>
              </a:lnSpc>
              <a:buNone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Основний сценарій:</a:t>
            </a:r>
            <a:endParaRPr lang="uk-UA" sz="1600" dirty="0"/>
          </a:p>
          <a:p>
            <a:pPr indent="0">
              <a:lnSpc>
                <a:spcPct val="114999"/>
              </a:lnSpc>
              <a:buNone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Чернетка аудіопоста → завантаження аудіо → обробка файлу → синхронізація тексту → публікація → прослуховування.</a:t>
            </a:r>
            <a:endParaRPr lang="uk-UA" sz="1600" dirty="0"/>
          </a:p>
          <a:p>
            <a:pPr indent="0">
              <a:lnSpc>
                <a:spcPct val="114999"/>
              </a:lnSpc>
              <a:buNone/>
            </a:pPr>
            <a:endParaRPr lang="uk-UA" sz="16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>
              <a:lnSpc>
                <a:spcPct val="114999"/>
              </a:lnSpc>
              <a:buNone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Backend централізовано реалізує бізнес-логіку системи: автентифікацію, аудіопости, соціальні функції, сповіщення, платежі та модерацію.</a:t>
            </a:r>
            <a:endParaRPr lang="uk-UA" sz="160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1732D87-8DED-7454-5E25-DD083EBBD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551" y="710889"/>
            <a:ext cx="2816353" cy="3721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D07AD8-329B-C593-CBBE-280FFFB66B37}"/>
              </a:ext>
            </a:extLst>
          </p:cNvPr>
          <p:cNvSpPr txBox="1"/>
          <p:nvPr/>
        </p:nvSpPr>
        <p:spPr>
          <a:xfrm>
            <a:off x="271811" y="1665713"/>
            <a:ext cx="4572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Метод </a:t>
            </a:r>
            <a:r>
              <a:rPr lang="en-US" dirty="0" err="1"/>
              <a:t>виконує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прив’язку</a:t>
            </a:r>
            <a:r>
              <a:rPr lang="en-US" dirty="0"/>
              <a:t> </a:t>
            </a:r>
            <a:r>
              <a:rPr lang="en-US" dirty="0" err="1"/>
              <a:t>обробленого</a:t>
            </a:r>
            <a:r>
              <a:rPr lang="en-US" dirty="0"/>
              <a:t> </a:t>
            </a:r>
            <a:r>
              <a:rPr lang="en-US" dirty="0" err="1"/>
              <a:t>аудіофайлу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поста</a:t>
            </a:r>
            <a:r>
              <a:rPr lang="en-US" dirty="0"/>
              <a:t>;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очищення</a:t>
            </a:r>
            <a:r>
              <a:rPr lang="en-US" dirty="0"/>
              <a:t> </a:t>
            </a:r>
            <a:r>
              <a:rPr lang="en-US" dirty="0" err="1"/>
              <a:t>тимчасового</a:t>
            </a:r>
            <a:r>
              <a:rPr lang="en-US" dirty="0"/>
              <a:t> source-</a:t>
            </a:r>
            <a:r>
              <a:rPr lang="en-US" dirty="0" err="1"/>
              <a:t>файлу</a:t>
            </a:r>
            <a:r>
              <a:rPr lang="en-US" dirty="0"/>
              <a:t>;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перевірку</a:t>
            </a:r>
            <a:r>
              <a:rPr lang="en-US" dirty="0"/>
              <a:t> </a:t>
            </a:r>
            <a:r>
              <a:rPr lang="en-US" dirty="0" err="1"/>
              <a:t>готовності</a:t>
            </a:r>
            <a:r>
              <a:rPr lang="en-US" dirty="0"/>
              <a:t> </a:t>
            </a:r>
            <a:r>
              <a:rPr lang="en-US" dirty="0" err="1"/>
              <a:t>поста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публікації</a:t>
            </a:r>
            <a:r>
              <a:rPr lang="en-US" dirty="0"/>
              <a:t>;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автоматичну</a:t>
            </a:r>
            <a:r>
              <a:rPr lang="en-US" dirty="0"/>
              <a:t> </a:t>
            </a:r>
            <a:r>
              <a:rPr lang="en-US" dirty="0" err="1"/>
              <a:t>зміну</a:t>
            </a:r>
            <a:r>
              <a:rPr lang="en-US" dirty="0"/>
              <a:t> </a:t>
            </a:r>
            <a:r>
              <a:rPr lang="en-US" dirty="0" err="1"/>
              <a:t>статусу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>
                <a:latin typeface="Consolas"/>
              </a:rPr>
              <a:t>PUBLISHED</a:t>
            </a:r>
            <a:r>
              <a:rPr lang="en-US" dirty="0"/>
              <a:t> </a:t>
            </a:r>
            <a:r>
              <a:rPr lang="en-US" dirty="0" err="1"/>
              <a:t>або</a:t>
            </a:r>
            <a:r>
              <a:rPr lang="en-US" dirty="0"/>
              <a:t> </a:t>
            </a:r>
            <a:r>
              <a:rPr lang="en-US" dirty="0">
                <a:latin typeface="Consolas"/>
              </a:rPr>
              <a:t>DRAFT</a:t>
            </a:r>
            <a:r>
              <a:rPr lang="en-US" dirty="0"/>
              <a:t>;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оновлення</a:t>
            </a:r>
            <a:r>
              <a:rPr lang="en-US" dirty="0"/>
              <a:t> </a:t>
            </a:r>
            <a:r>
              <a:rPr lang="en-US" dirty="0" err="1"/>
              <a:t>даних</a:t>
            </a:r>
            <a:r>
              <a:rPr lang="en-US" dirty="0"/>
              <a:t> у </a:t>
            </a:r>
            <a:r>
              <a:rPr lang="en-US" dirty="0" err="1"/>
              <a:t>межах</a:t>
            </a:r>
            <a:r>
              <a:rPr lang="en-US" dirty="0"/>
              <a:t> </a:t>
            </a:r>
            <a:r>
              <a:rPr lang="en-US" dirty="0" err="1"/>
              <a:t>транзакції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8343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uk-UA"/>
              <a:t>10</a:t>
            </a:r>
            <a:endParaRPr lang="uk-U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3FC258-C116-5EF1-7173-B4F186FB4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026215"/>
              </p:ext>
            </p:extLst>
          </p:nvPr>
        </p:nvGraphicFramePr>
        <p:xfrm>
          <a:off x="408723" y="694321"/>
          <a:ext cx="8323576" cy="353688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61788">
                  <a:extLst>
                    <a:ext uri="{9D8B030D-6E8A-4147-A177-3AD203B41FA5}">
                      <a16:colId xmlns:a16="http://schemas.microsoft.com/office/drawing/2014/main" val="4096048646"/>
                    </a:ext>
                  </a:extLst>
                </a:gridCol>
                <a:gridCol w="4161788">
                  <a:extLst>
                    <a:ext uri="{9D8B030D-6E8A-4147-A177-3AD203B41FA5}">
                      <a16:colId xmlns:a16="http://schemas.microsoft.com/office/drawing/2014/main" val="3896857271"/>
                    </a:ext>
                  </a:extLst>
                </a:gridCol>
              </a:tblGrid>
              <a:tr h="3929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dirty="0">
                          <a:latin typeface="Open Sans"/>
                          <a:ea typeface="Open Sans"/>
                          <a:cs typeface="Open Sans"/>
                        </a:rPr>
                        <a:t>Сценарій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Результат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005342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Автентифікація та керування користувачами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227478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Створення й публікація аудіопостів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974152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Завантаження аудіо та синхронізація тексту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308732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Коментарі, реакції, підписки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64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Облік прослуховувань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442167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Сповіщення в реальному часі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98475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Платежі через Monobank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dirty="0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260918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>
                          <a:latin typeface="Arial"/>
                          <a:cs typeface="Arial"/>
                        </a:rPr>
                        <a:t>Модерація та адміністративні дії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Виконано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11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38343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uk-UA"/>
              <a:t>11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F6784-6FBB-F6F1-AB63-C5021999BF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28463" y="651994"/>
            <a:ext cx="2104188" cy="4070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E4819C-ED83-5429-EF57-5AFB656653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3792" y="651991"/>
            <a:ext cx="2134550" cy="4056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9A2373-7608-FD8F-507D-DD83B41E3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086" y="651994"/>
            <a:ext cx="2136614" cy="405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268925" y="875323"/>
            <a:ext cx="8563375" cy="32590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uk-UA" sz="1300"/>
              <a:t>Результати: Backend-частина системи Eter реалізує серверну основу для роботи з аудіопоезією: автентифікацію, аудіопости, синхронізований текст, соціальні функції, облік прослуховувань, платежі, сповіщення та модерацію.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uk-UA" sz="1300" dirty="0"/>
          </a:p>
          <a:p>
            <a:pPr marL="0" indent="0">
              <a:lnSpc>
                <a:spcPct val="150000"/>
              </a:lnSpc>
              <a:buNone/>
            </a:pPr>
            <a:r>
              <a:rPr lang="uk-UA" sz="1300"/>
              <a:t>Можливості використання: Серверна платформа для Android-, web- та admin-клієнтів системи Eter, що забезпечує єдиний API для авторів і слухачів української аудіопоезії.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uk-UA" sz="1300" dirty="0"/>
          </a:p>
          <a:p>
            <a:pPr marL="0" indent="0">
              <a:lnSpc>
                <a:spcPct val="150000"/>
              </a:lnSpc>
              <a:buNone/>
            </a:pPr>
            <a:r>
              <a:rPr lang="uk-UA" sz="1300" dirty="0"/>
              <a:t>Подальший розвиток:</a:t>
            </a:r>
            <a:endParaRPr lang="uk-UA"/>
          </a:p>
          <a:p>
            <a:pPr lv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sz="1300"/>
              <a:t>Розширення автоматизованого тестування </a:t>
            </a:r>
            <a:endParaRPr lang="uk-UA"/>
          </a:p>
          <a:p>
            <a:pPr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uk-UA" sz="1300"/>
              <a:t>Додавання черг для асинхронної обробки аудіо </a:t>
            </a:r>
            <a:endParaRPr lang="uk-UA"/>
          </a:p>
          <a:p>
            <a:pPr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uk-UA" sz="1300"/>
              <a:t>Впровадження кешування і моніторингу </a:t>
            </a:r>
            <a:endParaRPr lang="uk-UA"/>
          </a:p>
          <a:p>
            <a:pPr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uk-UA" sz="1300"/>
              <a:t>Масштабування файлового сховища </a:t>
            </a:r>
            <a:endParaRPr lang="uk-UA"/>
          </a:p>
          <a:p>
            <a:pPr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uk-UA" sz="1300"/>
              <a:t>Розвиток аналітики і платіжних можливостей</a:t>
            </a:r>
            <a:endParaRPr lang="uk-UA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uk-UA" sz="1300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38343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uk-UA"/>
              <a:t>12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презентації кваліфікаційної роботи магістрів</Template>
  <TotalTime>101</TotalTime>
  <Words>584</Words>
  <Application>Microsoft Office PowerPoint</Application>
  <PresentationFormat>On-screen Show (16:9)</PresentationFormat>
  <Paragraphs>93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Шаблон презентації кваліфікаційної роботи магістрів</vt:lpstr>
      <vt:lpstr>Backend-частина програмної системи для публікації та прослуховування аудіопоезії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Тестування</vt:lpstr>
      <vt:lpstr>Публікація результатів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Несторіан Ананьєв</dc:creator>
  <cp:lastModifiedBy>Несторіан Ананьєв</cp:lastModifiedBy>
  <cp:revision>136</cp:revision>
  <dcterms:created xsi:type="dcterms:W3CDTF">2026-06-07T16:02:38Z</dcterms:created>
  <dcterms:modified xsi:type="dcterms:W3CDTF">2026-06-17T08:41:29Z</dcterms:modified>
</cp:coreProperties>
</file>